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6419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KisanLink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L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6419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KisanLink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6419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KisanLink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417320"/>
            <a:ext cx="52120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FARMER-FIRST AGRITECH PLATFORM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41732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chemeClr val="bg1"/>
                </a:solidFill>
              </a:rPr>
              <a:t>KisanLink</a:t>
            </a:r>
            <a:endParaRPr lang="en-US" sz="5800" dirty="0"/>
          </a:p>
        </p:txBody>
      </p:sp>
      <p:sp>
        <p:nvSpPr>
          <p:cNvPr id="4" name="promise"/>
          <p:cNvSpPr txBox="1"/>
          <p:nvPr/>
        </p:nvSpPr>
        <p:spPr>
          <a:xfrm>
            <a:off x="640080" y="29260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offline.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typing.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passwords.</a:t>
            </a:r>
            <a:endParaRPr lang="en-US" sz="2800" dirty="0"/>
          </a:p>
        </p:txBody>
      </p:sp>
      <p:sp>
        <p:nvSpPr>
          <p:cNvPr id="5" name="descriptor"/>
          <p:cNvSpPr txBox="1"/>
          <p:nvPr/>
        </p:nvSpPr>
        <p:spPr>
          <a:xfrm>
            <a:off x="640080" y="46634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A farmer-owned platform for fair trading and crop management.</a:t>
            </a:r>
            <a:endParaRPr lang="en-US" sz="1600" dirty="0"/>
          </a:p>
        </p:txBody>
      </p:sp>
      <p:sp>
        <p:nvSpPr>
          <p:cNvPr id="6" name="team label"/>
          <p:cNvSpPr txBox="1"/>
          <p:nvPr/>
        </p:nvSpPr>
        <p:spPr>
          <a:xfrm>
            <a:off x="640080" y="5577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TEAM</a:t>
            </a:r>
            <a:endParaRPr lang="en-US" sz="1200" dirty="0"/>
          </a:p>
        </p:txBody>
      </p:sp>
      <p:sp>
        <p:nvSpPr>
          <p:cNvPr id="7" name="team names"/>
          <p:cNvSpPr txBox="1"/>
          <p:nvPr/>
        </p:nvSpPr>
        <p:spPr>
          <a:xfrm>
            <a:off x="640080" y="5852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Raqin Al-Asraar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Ali Abbas Haidar  |  Sourabh Jala</a:t>
            </a:r>
            <a:endParaRPr lang="en-US" sz="1400" dirty="0"/>
          </a:p>
        </p:txBody>
      </p:sp>
      <p:pic>
        <p:nvPicPr>
          <p:cNvPr id="8" name="dashboard wireframe" descr="KisanLink dashboard wirefra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417320"/>
            <a:ext cx="5486400" cy="3086100"/>
          </a:xfrm>
          <a:prstGeom prst="rect">
            <a:avLst/>
          </a:prstGeom>
        </p:spPr>
      </p:pic>
      <p:sp>
        <p:nvSpPr>
          <p:cNvPr id="9" name="wireframe caption"/>
          <p:cNvSpPr txBox="1"/>
          <p:nvPr/>
        </p:nvSpPr>
        <p:spPr>
          <a:xfrm>
            <a:off x="612648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Dashboard wireframe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farmers lose money and crops</a:t>
            </a:r>
            <a:endParaRPr lang="en-US" sz="3400" dirty="0"/>
          </a:p>
        </p:txBody>
      </p:sp>
      <p:sp>
        <p:nvSpPr>
          <p:cNvPr id="3" name="col1"/>
          <p:cNvSpPr txBox="1"/>
          <p:nvPr/>
        </p:nvSpPr>
        <p:spPr>
          <a:xfrm>
            <a:off x="164592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4" name="col2"/>
          <p:cNvSpPr txBox="1"/>
          <p:nvPr/>
        </p:nvSpPr>
        <p:spPr>
          <a:xfrm>
            <a:off x="65836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ROOT CAUSE</a:t>
            </a:r>
            <a:endParaRPr lang="en-US" sz="1200" dirty="0"/>
          </a:p>
        </p:txBody>
      </p:sp>
      <p:sp>
        <p:nvSpPr>
          <p:cNvPr id="5" name="rule 0"/>
          <p:cNvSpPr/>
          <p:nvPr/>
        </p:nvSpPr>
        <p:spPr>
          <a:xfrm>
            <a:off x="640080" y="2057400"/>
            <a:ext cx="1090879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6" name="num 01"/>
          <p:cNvSpPr txBox="1"/>
          <p:nvPr/>
        </p:nvSpPr>
        <p:spPr>
          <a:xfrm>
            <a:off x="640080" y="214884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problem 01"/>
          <p:cNvSpPr txBox="1"/>
          <p:nvPr/>
        </p:nvSpPr>
        <p:spPr>
          <a:xfrm>
            <a:off x="1645920" y="21488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exploitation</a:t>
            </a:r>
            <a:endParaRPr lang="en-US" sz="2600" dirty="0"/>
          </a:p>
        </p:txBody>
      </p:sp>
      <p:sp>
        <p:nvSpPr>
          <p:cNvPr id="8" name="cause 01"/>
          <p:cNvSpPr txBox="1"/>
          <p:nvPr/>
        </p:nvSpPr>
        <p:spPr>
          <a:xfrm>
            <a:off x="6583680" y="21488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No real-time mandi prices, so farmers depend on middlemen.</a:t>
            </a:r>
            <a:endParaRPr lang="en-US" sz="2000" dirty="0"/>
          </a:p>
        </p:txBody>
      </p:sp>
      <p:sp>
        <p:nvSpPr>
          <p:cNvPr id="9" name="rule 01"/>
          <p:cNvSpPr/>
          <p:nvPr/>
        </p:nvSpPr>
        <p:spPr>
          <a:xfrm>
            <a:off x="640080" y="3429000"/>
            <a:ext cx="1090879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0" name="num 02"/>
          <p:cNvSpPr txBox="1"/>
          <p:nvPr/>
        </p:nvSpPr>
        <p:spPr>
          <a:xfrm>
            <a:off x="640080" y="352044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problem 02"/>
          <p:cNvSpPr txBox="1"/>
          <p:nvPr/>
        </p:nvSpPr>
        <p:spPr>
          <a:xfrm>
            <a:off x="1645920" y="35204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Post-harvest spoilage</a:t>
            </a:r>
            <a:endParaRPr lang="en-US" sz="2600" dirty="0"/>
          </a:p>
        </p:txBody>
      </p:sp>
      <p:sp>
        <p:nvSpPr>
          <p:cNvPr id="12" name="cause 02"/>
          <p:cNvSpPr txBox="1"/>
          <p:nvPr/>
        </p:nvSpPr>
        <p:spPr>
          <a:xfrm>
            <a:off x="6583680" y="35204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Not enough cold storage or processing capacity nearby.</a:t>
            </a:r>
            <a:endParaRPr lang="en-US" sz="2000" dirty="0"/>
          </a:p>
        </p:txBody>
      </p:sp>
      <p:sp>
        <p:nvSpPr>
          <p:cNvPr id="13" name="rule 02"/>
          <p:cNvSpPr/>
          <p:nvPr/>
        </p:nvSpPr>
        <p:spPr>
          <a:xfrm>
            <a:off x="640080" y="4800600"/>
            <a:ext cx="1090879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4" name="num 03"/>
          <p:cNvSpPr txBox="1"/>
          <p:nvPr/>
        </p:nvSpPr>
        <p:spPr>
          <a:xfrm>
            <a:off x="640080" y="489204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problem 03"/>
          <p:cNvSpPr txBox="1"/>
          <p:nvPr/>
        </p:nvSpPr>
        <p:spPr>
          <a:xfrm>
            <a:off x="1645920" y="48920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Delayed disease detection</a:t>
            </a:r>
            <a:endParaRPr lang="en-US" sz="2600" dirty="0"/>
          </a:p>
        </p:txBody>
      </p:sp>
      <p:sp>
        <p:nvSpPr>
          <p:cNvPr id="16" name="cause 03"/>
          <p:cNvSpPr txBox="1"/>
          <p:nvPr/>
        </p:nvSpPr>
        <p:spPr>
          <a:xfrm>
            <a:off x="6583680" y="48920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Limited access to local agronomists and timely advice.</a:t>
            </a:r>
            <a:endParaRPr lang="en-US" sz="2000" dirty="0"/>
          </a:p>
        </p:txBody>
      </p:sp>
      <p:sp>
        <p:nvSpPr>
          <p:cNvPr id="17" name="rule 03"/>
          <p:cNvSpPr/>
          <p:nvPr/>
        </p:nvSpPr>
        <p:spPr>
          <a:xfrm>
            <a:off x="640080" y="6172200"/>
            <a:ext cx="1090879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One platform, three answers</a:t>
            </a:r>
            <a:endParaRPr lang="en-US" sz="3400" dirty="0"/>
          </a:p>
        </p:txBody>
      </p:sp>
      <p:sp>
        <p:nvSpPr>
          <p:cNvPr id="3" name="sol label 1"/>
          <p:cNvSpPr txBox="1"/>
          <p:nvPr/>
        </p:nvSpPr>
        <p:spPr>
          <a:xfrm>
            <a:off x="64008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PRICE EXPLOITATION</a:t>
            </a:r>
            <a:endParaRPr lang="en-US" sz="1200" dirty="0"/>
          </a:p>
        </p:txBody>
      </p:sp>
      <p:sp>
        <p:nvSpPr>
          <p:cNvPr id="4" name="sol title 1"/>
          <p:cNvSpPr txBox="1"/>
          <p:nvPr/>
        </p:nvSpPr>
        <p:spPr>
          <a:xfrm>
            <a:off x="640080" y="21945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the price</a:t>
            </a:r>
            <a:endParaRPr lang="en-US" sz="3000" dirty="0"/>
          </a:p>
        </p:txBody>
      </p:sp>
      <p:sp>
        <p:nvSpPr>
          <p:cNvPr id="5" name="sol body 1"/>
          <p:cNvSpPr txBox="1"/>
          <p:nvPr/>
        </p:nvSpPr>
        <p:spPr>
          <a:xfrm>
            <a:off x="640080" y="3566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Direct buyer-seller listings, plus a live mandi price dashboard.</a:t>
            </a:r>
            <a:endParaRPr lang="en-US" sz="1800" dirty="0"/>
          </a:p>
        </p:txBody>
      </p:sp>
      <p:sp>
        <p:nvSpPr>
          <p:cNvPr id="6" name="divider 1"/>
          <p:cNvSpPr/>
          <p:nvPr/>
        </p:nvSpPr>
        <p:spPr>
          <a:xfrm>
            <a:off x="4206240" y="1783080"/>
            <a:ext cx="0" cy="310896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7" name="sol label 2"/>
          <p:cNvSpPr txBox="1"/>
          <p:nvPr/>
        </p:nvSpPr>
        <p:spPr>
          <a:xfrm>
            <a:off x="443484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POST-HARVEST SPOILAGE</a:t>
            </a:r>
            <a:endParaRPr lang="en-US" sz="1200" dirty="0"/>
          </a:p>
        </p:txBody>
      </p:sp>
      <p:sp>
        <p:nvSpPr>
          <p:cNvPr id="8" name="sol title 2"/>
          <p:cNvSpPr txBox="1"/>
          <p:nvPr/>
        </p:nvSpPr>
        <p:spPr>
          <a:xfrm>
            <a:off x="4434840" y="21945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a place to store it</a:t>
            </a:r>
            <a:endParaRPr lang="en-US" sz="3000" dirty="0"/>
          </a:p>
        </p:txBody>
      </p:sp>
      <p:sp>
        <p:nvSpPr>
          <p:cNvPr id="9" name="sol body 2"/>
          <p:cNvSpPr txBox="1"/>
          <p:nvPr/>
        </p:nvSpPr>
        <p:spPr>
          <a:xfrm>
            <a:off x="4434840" y="3566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Local storage space discovery and rental listings.</a:t>
            </a:r>
            <a:endParaRPr lang="en-US" sz="1800" dirty="0"/>
          </a:p>
        </p:txBody>
      </p:sp>
      <p:sp>
        <p:nvSpPr>
          <p:cNvPr id="10" name="divider 2"/>
          <p:cNvSpPr/>
          <p:nvPr/>
        </p:nvSpPr>
        <p:spPr>
          <a:xfrm>
            <a:off x="8001000" y="1783080"/>
            <a:ext cx="0" cy="310896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1" name="sol label 3"/>
          <p:cNvSpPr txBox="1"/>
          <p:nvPr/>
        </p:nvSpPr>
        <p:spPr>
          <a:xfrm>
            <a:off x="822960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DELAYED DISEASE DETECTION</a:t>
            </a:r>
            <a:endParaRPr lang="en-US" sz="1200" dirty="0"/>
          </a:p>
        </p:txBody>
      </p:sp>
      <p:sp>
        <p:nvSpPr>
          <p:cNvPr id="12" name="sol title 3"/>
          <p:cNvSpPr txBox="1"/>
          <p:nvPr/>
        </p:nvSpPr>
        <p:spPr>
          <a:xfrm>
            <a:off x="8229600" y="21945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 disease early</a:t>
            </a:r>
            <a:endParaRPr lang="en-US" sz="3000" dirty="0"/>
          </a:p>
        </p:txBody>
      </p:sp>
      <p:sp>
        <p:nvSpPr>
          <p:cNvPr id="13" name="sol body 3"/>
          <p:cNvSpPr txBox="1"/>
          <p:nvPr/>
        </p:nvSpPr>
        <p:spPr>
          <a:xfrm>
            <a:off x="8229600" y="3566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Instant AI vision diagnosis with one-tap expert escalation.</a:t>
            </a:r>
            <a:endParaRPr lang="en-US" sz="1800" dirty="0"/>
          </a:p>
        </p:txBody>
      </p:sp>
      <p:sp>
        <p:nvSpPr>
          <p:cNvPr id="14" name="usp band"/>
          <p:cNvSpPr/>
          <p:nvPr/>
        </p:nvSpPr>
        <p:spPr>
          <a:xfrm>
            <a:off x="640080" y="5120640"/>
            <a:ext cx="10908792" cy="100584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/>
        </p:spPr>
      </p:sp>
      <p:sp>
        <p:nvSpPr>
          <p:cNvPr id="15" name="usp label"/>
          <p:cNvSpPr txBox="1"/>
          <p:nvPr/>
        </p:nvSpPr>
        <p:spPr>
          <a:xfrm>
            <a:off x="960120" y="5303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CORE USP</a:t>
            </a:r>
            <a:endParaRPr lang="en-US" sz="1200" dirty="0"/>
          </a:p>
        </p:txBody>
      </p:sp>
      <p:sp>
        <p:nvSpPr>
          <p:cNvPr id="16" name="usp text"/>
          <p:cNvSpPr txBox="1"/>
          <p:nvPr/>
        </p:nvSpPr>
        <p:spPr>
          <a:xfrm>
            <a:off x="960120" y="5577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farmer-owned platform that works offline without signal, typing or passwords, creating records signed at creation for fair trading and crop management.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a farmer moves through the website</a:t>
            </a:r>
            <a:endParaRPr lang="en-US" sz="3400" dirty="0"/>
          </a:p>
        </p:txBody>
      </p:sp>
      <p:sp>
        <p:nvSpPr>
          <p:cNvPr id="3" name="flow line"/>
          <p:cNvSpPr/>
          <p:nvPr/>
        </p:nvSpPr>
        <p:spPr>
          <a:xfrm>
            <a:off x="914400" y="2148840"/>
            <a:ext cx="8887968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4" name="flow dot 1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flow num 1"/>
          <p:cNvSpPr txBox="1"/>
          <p:nvPr/>
        </p:nvSpPr>
        <p:spPr>
          <a:xfrm>
            <a:off x="6400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flow title 1"/>
          <p:cNvSpPr txBox="1"/>
          <p:nvPr/>
        </p:nvSpPr>
        <p:spPr>
          <a:xfrm>
            <a:off x="640080" y="27432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in</a:t>
            </a:r>
            <a:endParaRPr lang="en-US" sz="2000" dirty="0"/>
          </a:p>
        </p:txBody>
      </p:sp>
      <p:sp>
        <p:nvSpPr>
          <p:cNvPr id="7" name="flow text 1"/>
          <p:cNvSpPr txBox="1"/>
          <p:nvPr/>
        </p:nvSpPr>
        <p:spPr>
          <a:xfrm>
            <a:off x="640080" y="36576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Phone number and OTP. No password to remember.</a:t>
            </a:r>
            <a:endParaRPr lang="en-US" sz="1400" dirty="0"/>
          </a:p>
        </p:txBody>
      </p:sp>
      <p:sp>
        <p:nvSpPr>
          <p:cNvPr id="8" name="flow dot 2"/>
          <p:cNvSpPr/>
          <p:nvPr/>
        </p:nvSpPr>
        <p:spPr>
          <a:xfrm>
            <a:off x="2862072" y="1874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9" name="flow num 2"/>
          <p:cNvSpPr txBox="1"/>
          <p:nvPr/>
        </p:nvSpPr>
        <p:spPr>
          <a:xfrm>
            <a:off x="286207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flow title 2"/>
          <p:cNvSpPr txBox="1"/>
          <p:nvPr/>
        </p:nvSpPr>
        <p:spPr>
          <a:xfrm>
            <a:off x="2862072" y="27432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11" name="flow text 2"/>
          <p:cNvSpPr txBox="1"/>
          <p:nvPr/>
        </p:nvSpPr>
        <p:spPr>
          <a:xfrm>
            <a:off x="2862072" y="36576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 prices, recent scans, storage and buyer requests on one screen.</a:t>
            </a:r>
            <a:endParaRPr lang="en-US" sz="1400" dirty="0"/>
          </a:p>
        </p:txBody>
      </p:sp>
      <p:sp>
        <p:nvSpPr>
          <p:cNvPr id="12" name="flow dot 3"/>
          <p:cNvSpPr/>
          <p:nvPr/>
        </p:nvSpPr>
        <p:spPr>
          <a:xfrm>
            <a:off x="5084064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flow num 3"/>
          <p:cNvSpPr txBox="1"/>
          <p:nvPr/>
        </p:nvSpPr>
        <p:spPr>
          <a:xfrm>
            <a:off x="508406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flow title 3"/>
          <p:cNvSpPr txBox="1"/>
          <p:nvPr/>
        </p:nvSpPr>
        <p:spPr>
          <a:xfrm>
            <a:off x="5084064" y="27432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Crop Scanner</a:t>
            </a:r>
            <a:endParaRPr lang="en-US" sz="2000" dirty="0"/>
          </a:p>
        </p:txBody>
      </p:sp>
      <p:sp>
        <p:nvSpPr>
          <p:cNvPr id="15" name="flow text 3"/>
          <p:cNvSpPr txBox="1"/>
          <p:nvPr/>
        </p:nvSpPr>
        <p:spPr>
          <a:xfrm>
            <a:off x="5084064" y="36576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Upload a photo or use Voice Add. Get the disease, severity and action steps.</a:t>
            </a:r>
            <a:endParaRPr lang="en-US" sz="1400" dirty="0"/>
          </a:p>
        </p:txBody>
      </p:sp>
      <p:sp>
        <p:nvSpPr>
          <p:cNvPr id="16" name="flow dot 4"/>
          <p:cNvSpPr/>
          <p:nvPr/>
        </p:nvSpPr>
        <p:spPr>
          <a:xfrm>
            <a:off x="7306056" y="1874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7" name="flow num 4"/>
          <p:cNvSpPr txBox="1"/>
          <p:nvPr/>
        </p:nvSpPr>
        <p:spPr>
          <a:xfrm>
            <a:off x="730605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flow title 4"/>
          <p:cNvSpPr txBox="1"/>
          <p:nvPr/>
        </p:nvSpPr>
        <p:spPr>
          <a:xfrm>
            <a:off x="7306056" y="27432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&amp; Storage</a:t>
            </a:r>
            <a:endParaRPr lang="en-US" sz="2000" dirty="0"/>
          </a:p>
        </p:txBody>
      </p:sp>
      <p:sp>
        <p:nvSpPr>
          <p:cNvPr id="19" name="flow text 4"/>
          <p:cNvSpPr txBox="1"/>
          <p:nvPr/>
        </p:nvSpPr>
        <p:spPr>
          <a:xfrm>
            <a:off x="7306056" y="36576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 crops for buyers on Direct Market, or find a cold room on Cold Storage.</a:t>
            </a:r>
            <a:endParaRPr lang="en-US" sz="1400" dirty="0"/>
          </a:p>
        </p:txBody>
      </p:sp>
      <p:sp>
        <p:nvSpPr>
          <p:cNvPr id="20" name="flow dot 5"/>
          <p:cNvSpPr/>
          <p:nvPr/>
        </p:nvSpPr>
        <p:spPr>
          <a:xfrm>
            <a:off x="9528048" y="1874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1" name="flow num 5"/>
          <p:cNvSpPr txBox="1"/>
          <p:nvPr/>
        </p:nvSpPr>
        <p:spPr>
          <a:xfrm>
            <a:off x="952804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flow title 5"/>
          <p:cNvSpPr txBox="1"/>
          <p:nvPr/>
        </p:nvSpPr>
        <p:spPr>
          <a:xfrm>
            <a:off x="9528048" y="27432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 help</a:t>
            </a:r>
            <a:endParaRPr lang="en-US" sz="2000" dirty="0"/>
          </a:p>
        </p:txBody>
      </p:sp>
      <p:sp>
        <p:nvSpPr>
          <p:cNvPr id="23" name="flow text 5"/>
          <p:cNvSpPr txBox="1"/>
          <p:nvPr/>
        </p:nvSpPr>
        <p:spPr>
          <a:xfrm>
            <a:off x="9528048" y="36576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High-risk result? One tap to Talk to Local Expert.</a:t>
            </a:r>
            <a:endParaRPr lang="en-US" sz="1400" dirty="0"/>
          </a:p>
        </p:txBody>
      </p:sp>
      <p:sp>
        <p:nvSpPr>
          <p:cNvPr id="24" name="flow band"/>
          <p:cNvSpPr/>
          <p:nvPr/>
        </p:nvSpPr>
        <p:spPr>
          <a:xfrm>
            <a:off x="640080" y="5074920"/>
            <a:ext cx="10908792" cy="1051560"/>
          </a:xfrm>
          <a:prstGeom prst="roundRect">
            <a:avLst>
              <a:gd name="adj" fmla="val 8696"/>
            </a:avLst>
          </a:prstGeom>
          <a:solidFill>
            <a:schemeClr val="tx1"/>
          </a:solidFill>
          <a:ln/>
        </p:spPr>
      </p:sp>
      <p:sp>
        <p:nvSpPr>
          <p:cNvPr id="25" name="flow band label"/>
          <p:cNvSpPr txBox="1"/>
          <p:nvPr/>
        </p:nvSpPr>
        <p:spPr>
          <a:xfrm>
            <a:off x="960120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AT EVERY STEP</a:t>
            </a:r>
            <a:endParaRPr lang="en-US" sz="1200" dirty="0"/>
          </a:p>
        </p:txBody>
      </p:sp>
      <p:sp>
        <p:nvSpPr>
          <p:cNvPr id="26" name="flow band text"/>
          <p:cNvSpPr txBox="1"/>
          <p:nvPr/>
        </p:nvSpPr>
        <p:spPr>
          <a:xfrm>
            <a:off x="960120" y="55778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Works offline: actions save locally and sync automatically when the network returns.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The dashboard at a glance</a:t>
            </a:r>
            <a:endParaRPr lang="en-US" sz="3400" dirty="0"/>
          </a:p>
        </p:txBody>
      </p:sp>
      <p:pic>
        <p:nvPicPr>
          <p:cNvPr id="3" name="dashboard wireframe" descr="KisanLink dashboard wireframe with numbered callou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7315200" cy="4114800"/>
          </a:xfrm>
          <a:prstGeom prst="rect">
            <a:avLst/>
          </a:prstGeom>
        </p:spPr>
      </p:pic>
      <p:sp>
        <p:nvSpPr>
          <p:cNvPr id="4" name="marker bg 1"/>
          <p:cNvSpPr/>
          <p:nvPr/>
        </p:nvSpPr>
        <p:spPr>
          <a:xfrm>
            <a:off x="3383280" y="1613916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marker 1"/>
          <p:cNvSpPr txBox="1"/>
          <p:nvPr/>
        </p:nvSpPr>
        <p:spPr>
          <a:xfrm>
            <a:off x="3383280" y="16139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marker bg 2"/>
          <p:cNvSpPr/>
          <p:nvPr/>
        </p:nvSpPr>
        <p:spPr>
          <a:xfrm>
            <a:off x="6931152" y="201305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marker 2"/>
          <p:cNvSpPr txBox="1"/>
          <p:nvPr/>
        </p:nvSpPr>
        <p:spPr>
          <a:xfrm>
            <a:off x="6931152" y="20130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8" name="marker bg 3"/>
          <p:cNvSpPr/>
          <p:nvPr/>
        </p:nvSpPr>
        <p:spPr>
          <a:xfrm>
            <a:off x="3785616" y="291830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marker 3"/>
          <p:cNvSpPr txBox="1"/>
          <p:nvPr/>
        </p:nvSpPr>
        <p:spPr>
          <a:xfrm>
            <a:off x="3785616" y="29183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0" name="marker bg 4"/>
          <p:cNvSpPr/>
          <p:nvPr/>
        </p:nvSpPr>
        <p:spPr>
          <a:xfrm>
            <a:off x="7406640" y="291007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marker 4"/>
          <p:cNvSpPr txBox="1"/>
          <p:nvPr/>
        </p:nvSpPr>
        <p:spPr>
          <a:xfrm>
            <a:off x="7406640" y="291007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2" name="key bg 1"/>
          <p:cNvSpPr/>
          <p:nvPr/>
        </p:nvSpPr>
        <p:spPr>
          <a:xfrm>
            <a:off x="8321040" y="157276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key 1"/>
          <p:cNvSpPr txBox="1"/>
          <p:nvPr/>
        </p:nvSpPr>
        <p:spPr>
          <a:xfrm>
            <a:off x="8321040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callout 1"/>
          <p:cNvSpPr txBox="1"/>
          <p:nvPr/>
        </p:nvSpPr>
        <p:spPr>
          <a:xfrm>
            <a:off x="8823960" y="15544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Top bar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Offline status, Voice Add and an EN / HI toggle.</a:t>
            </a:r>
            <a:endParaRPr lang="en-US" sz="1400" dirty="0"/>
          </a:p>
        </p:txBody>
      </p:sp>
      <p:sp>
        <p:nvSpPr>
          <p:cNvPr id="15" name="key bg 2"/>
          <p:cNvSpPr/>
          <p:nvPr/>
        </p:nvSpPr>
        <p:spPr>
          <a:xfrm>
            <a:off x="8321040" y="265176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key 2"/>
          <p:cNvSpPr txBox="1"/>
          <p:nvPr/>
        </p:nvSpPr>
        <p:spPr>
          <a:xfrm>
            <a:off x="8321040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callout 2"/>
          <p:cNvSpPr txBox="1"/>
          <p:nvPr/>
        </p:nvSpPr>
        <p:spPr>
          <a:xfrm>
            <a:off x="8823960" y="263347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Live mandi prices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Large rates with daily ▲ / ▼ change.</a:t>
            </a:r>
            <a:endParaRPr lang="en-US" sz="1400" dirty="0"/>
          </a:p>
        </p:txBody>
      </p:sp>
      <p:sp>
        <p:nvSpPr>
          <p:cNvPr id="18" name="key bg 3"/>
          <p:cNvSpPr/>
          <p:nvPr/>
        </p:nvSpPr>
        <p:spPr>
          <a:xfrm>
            <a:off x="8321040" y="373075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key 3"/>
          <p:cNvSpPr txBox="1"/>
          <p:nvPr/>
        </p:nvSpPr>
        <p:spPr>
          <a:xfrm>
            <a:off x="832104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callout 3"/>
          <p:cNvSpPr txBox="1"/>
          <p:nvPr/>
        </p:nvSpPr>
        <p:spPr>
          <a:xfrm>
            <a:off x="8823960" y="371246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Recent AI scans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Color-coded risk with a Talk to Expert button.</a:t>
            </a:r>
            <a:endParaRPr lang="en-US" sz="1400" dirty="0"/>
          </a:p>
        </p:txBody>
      </p:sp>
      <p:sp>
        <p:nvSpPr>
          <p:cNvPr id="21" name="key bg 4"/>
          <p:cNvSpPr/>
          <p:nvPr/>
        </p:nvSpPr>
        <p:spPr>
          <a:xfrm>
            <a:off x="8321040" y="480974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key 4"/>
          <p:cNvSpPr txBox="1"/>
          <p:nvPr/>
        </p:nvSpPr>
        <p:spPr>
          <a:xfrm>
            <a:off x="8321040" y="4809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callout 4"/>
          <p:cNvSpPr txBox="1"/>
          <p:nvPr/>
        </p:nvSpPr>
        <p:spPr>
          <a:xfrm>
            <a:off x="8823960" y="4791456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Storage &amp; buyers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Nearby cold storage and buyer inquiries.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farmers get</a:t>
            </a:r>
            <a:endParaRPr lang="en-US" sz="3400" dirty="0"/>
          </a:p>
        </p:txBody>
      </p:sp>
      <p:sp>
        <p:nvSpPr>
          <p:cNvPr id="3" name="panel A"/>
          <p:cNvSpPr/>
          <p:nvPr/>
        </p:nvSpPr>
        <p:spPr>
          <a:xfrm>
            <a:off x="640080" y="1554480"/>
            <a:ext cx="5120640" cy="4572000"/>
          </a:xfrm>
          <a:prstGeom prst="roundRect">
            <a:avLst>
              <a:gd name="adj" fmla="val 2000"/>
            </a:avLst>
          </a:prstGeom>
          <a:solidFill>
            <a:schemeClr val="tx1"/>
          </a:solidFill>
          <a:ln/>
        </p:spPr>
      </p:sp>
      <p:sp>
        <p:nvSpPr>
          <p:cNvPr id="4" name="A label"/>
          <p:cNvSpPr txBox="1"/>
          <p:nvPr/>
        </p:nvSpPr>
        <p:spPr>
          <a:xfrm>
            <a:off x="9601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  |  CORE</a:t>
            </a:r>
            <a:endParaRPr lang="en-US" sz="1200" dirty="0"/>
          </a:p>
        </p:txBody>
      </p:sp>
      <p:sp>
        <p:nvSpPr>
          <p:cNvPr id="5" name="A title"/>
          <p:cNvSpPr txBox="1"/>
          <p:nvPr/>
        </p:nvSpPr>
        <p:spPr>
          <a:xfrm>
            <a:off x="960120" y="2148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&amp; Direct Trading</a:t>
            </a:r>
            <a:endParaRPr lang="en-US" sz="2400" dirty="0"/>
          </a:p>
        </p:txBody>
      </p:sp>
      <p:sp>
        <p:nvSpPr>
          <p:cNvPr id="6" name="A item 1"/>
          <p:cNvSpPr txBox="1"/>
          <p:nvPr/>
        </p:nvSpPr>
        <p:spPr>
          <a:xfrm>
            <a:off x="960120" y="288036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Price Dashboard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Daily local mandi rates with ▲ / ▼ change indicators, from public APIs such as data.gov.in or sample sets.</a:t>
            </a:r>
            <a:endParaRPr lang="en-US" sz="1400" dirty="0"/>
          </a:p>
        </p:txBody>
      </p:sp>
      <p:sp>
        <p:nvSpPr>
          <p:cNvPr id="7" name="A item 2"/>
          <p:cNvSpPr txBox="1"/>
          <p:nvPr/>
        </p:nvSpPr>
        <p:spPr>
          <a:xfrm>
            <a:off x="960120" y="3959352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Direct Selling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Farmers list crop, quantity and asking price using visual dropdowns.</a:t>
            </a:r>
            <a:endParaRPr lang="en-US" sz="1400" dirty="0"/>
          </a:p>
        </p:txBody>
      </p:sp>
      <p:sp>
        <p:nvSpPr>
          <p:cNvPr id="8" name="A item 3"/>
          <p:cNvSpPr txBox="1"/>
          <p:nvPr/>
        </p:nvSpPr>
        <p:spPr>
          <a:xfrm>
            <a:off x="960120" y="5038344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Buyer Connect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Buyers view local listings and tap to contact farmers directly.</a:t>
            </a:r>
            <a:endParaRPr lang="en-US" sz="1400" dirty="0"/>
          </a:p>
        </p:txBody>
      </p:sp>
      <p:sp>
        <p:nvSpPr>
          <p:cNvPr id="9" name="panel B"/>
          <p:cNvSpPr/>
          <p:nvPr/>
        </p:nvSpPr>
        <p:spPr>
          <a:xfrm>
            <a:off x="5943600" y="1554480"/>
            <a:ext cx="5605272" cy="2926080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" name="B label"/>
          <p:cNvSpPr txBox="1"/>
          <p:nvPr/>
        </p:nvSpPr>
        <p:spPr>
          <a:xfrm>
            <a:off x="626364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B</a:t>
            </a:r>
            <a:endParaRPr lang="en-US" sz="1200" dirty="0"/>
          </a:p>
        </p:txBody>
      </p:sp>
      <p:sp>
        <p:nvSpPr>
          <p:cNvPr id="11" name="B title"/>
          <p:cNvSpPr txBox="1"/>
          <p:nvPr/>
        </p:nvSpPr>
        <p:spPr>
          <a:xfrm>
            <a:off x="626364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Crop Disease Diagnosis</a:t>
            </a:r>
            <a:endParaRPr lang="en-US" sz="2400" dirty="0"/>
          </a:p>
        </p:txBody>
      </p:sp>
      <p:sp>
        <p:nvSpPr>
          <p:cNvPr id="12" name="B text"/>
          <p:cNvSpPr txBox="1"/>
          <p:nvPr/>
        </p:nvSpPr>
        <p:spPr>
          <a:xfrm>
            <a:off x="6263640" y="2651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Visual scan: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one-tap photo with automatic compression.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Instant diagnosis: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disease name, severity and 2–3 action steps in plain language.</a:t>
            </a:r>
            <a:endParaRPr lang="en-US" sz="1400" dirty="0"/>
          </a:p>
        </p:txBody>
      </p:sp>
      <p:sp>
        <p:nvSpPr>
          <p:cNvPr id="13" name="sev Low"/>
          <p:cNvSpPr/>
          <p:nvPr/>
        </p:nvSpPr>
        <p:spPr>
          <a:xfrm>
            <a:off x="6263640" y="361188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sev text Low"/>
          <p:cNvSpPr txBox="1"/>
          <p:nvPr/>
        </p:nvSpPr>
        <p:spPr>
          <a:xfrm>
            <a:off x="6263640" y="36118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Low</a:t>
            </a:r>
            <a:endParaRPr lang="en-US" sz="1200" dirty="0"/>
          </a:p>
        </p:txBody>
      </p:sp>
      <p:sp>
        <p:nvSpPr>
          <p:cNvPr id="15" name="sev Medium"/>
          <p:cNvSpPr/>
          <p:nvPr/>
        </p:nvSpPr>
        <p:spPr>
          <a:xfrm>
            <a:off x="7360920" y="361188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6" name="sev text Medium"/>
          <p:cNvSpPr txBox="1"/>
          <p:nvPr/>
        </p:nvSpPr>
        <p:spPr>
          <a:xfrm>
            <a:off x="7360920" y="36118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Medium</a:t>
            </a:r>
            <a:endParaRPr lang="en-US" sz="1200" dirty="0"/>
          </a:p>
        </p:txBody>
      </p:sp>
      <p:sp>
        <p:nvSpPr>
          <p:cNvPr id="17" name="sev High"/>
          <p:cNvSpPr/>
          <p:nvPr/>
        </p:nvSpPr>
        <p:spPr>
          <a:xfrm>
            <a:off x="8458200" y="361188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8" name="sev text High"/>
          <p:cNvSpPr txBox="1"/>
          <p:nvPr/>
        </p:nvSpPr>
        <p:spPr>
          <a:xfrm>
            <a:off x="8458200" y="36118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High</a:t>
            </a:r>
            <a:endParaRPr lang="en-US" sz="1200" dirty="0"/>
          </a:p>
        </p:txBody>
      </p:sp>
      <p:sp>
        <p:nvSpPr>
          <p:cNvPr id="19" name="sev note"/>
          <p:cNvSpPr txBox="1"/>
          <p:nvPr/>
        </p:nvSpPr>
        <p:spPr>
          <a:xfrm>
            <a:off x="9601200" y="36118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High severity unlocks “Talk to Local Expert”.</a:t>
            </a:r>
            <a:endParaRPr lang="en-US" sz="1200" dirty="0"/>
          </a:p>
        </p:txBody>
      </p:sp>
      <p:sp>
        <p:nvSpPr>
          <p:cNvPr id="20" name="panel C"/>
          <p:cNvSpPr/>
          <p:nvPr/>
        </p:nvSpPr>
        <p:spPr>
          <a:xfrm>
            <a:off x="5943600" y="4663440"/>
            <a:ext cx="5605272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21" name="C label"/>
          <p:cNvSpPr txBox="1"/>
          <p:nvPr/>
        </p:nvSpPr>
        <p:spPr>
          <a:xfrm>
            <a:off x="6263640" y="4846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C title"/>
          <p:cNvSpPr txBox="1"/>
          <p:nvPr/>
        </p:nvSpPr>
        <p:spPr>
          <a:xfrm>
            <a:off x="6263640" y="5074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Post-Harvest Storage Sharing</a:t>
            </a:r>
            <a:endParaRPr lang="en-US" sz="2200" dirty="0"/>
          </a:p>
        </p:txBody>
      </p:sp>
      <p:sp>
        <p:nvSpPr>
          <p:cNvPr id="23" name="C text"/>
          <p:cNvSpPr txBox="1"/>
          <p:nvPr/>
        </p:nvSpPr>
        <p:spPr>
          <a:xfrm>
            <a:off x="6263640" y="5577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Storage owners list available cold or dry room capacity for temporary rental.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Built for how farmers actually work</a:t>
            </a:r>
            <a:endParaRPr lang="en-US" sz="3400" dirty="0"/>
          </a:p>
        </p:txBody>
      </p:sp>
      <p:sp>
        <p:nvSpPr>
          <p:cNvPr id="3" name="offline panel"/>
          <p:cNvSpPr/>
          <p:nvPr/>
        </p:nvSpPr>
        <p:spPr>
          <a:xfrm>
            <a:off x="640080" y="1645920"/>
            <a:ext cx="512064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/>
        </p:spPr>
      </p:sp>
      <p:sp>
        <p:nvSpPr>
          <p:cNvPr id="4" name="offline label"/>
          <p:cNvSpPr txBox="1"/>
          <p:nvPr/>
        </p:nvSpPr>
        <p:spPr>
          <a:xfrm>
            <a:off x="9601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NO SIGNAL</a:t>
            </a:r>
            <a:endParaRPr lang="en-US" sz="1200" dirty="0"/>
          </a:p>
        </p:txBody>
      </p:sp>
      <p:sp>
        <p:nvSpPr>
          <p:cNvPr id="5" name="offline pill"/>
          <p:cNvSpPr/>
          <p:nvPr/>
        </p:nvSpPr>
        <p:spPr>
          <a:xfrm>
            <a:off x="960120" y="2194560"/>
            <a:ext cx="448056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6" name="offline pill text"/>
          <p:cNvSpPr txBox="1"/>
          <p:nvPr/>
        </p:nvSpPr>
        <p:spPr>
          <a:xfrm>
            <a:off x="960120" y="2194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Saved Offline – Will Sync when back in network</a:t>
            </a:r>
            <a:endParaRPr lang="en-US" sz="1400" dirty="0"/>
          </a:p>
        </p:txBody>
      </p:sp>
      <p:sp>
        <p:nvSpPr>
          <p:cNvPr id="7" name="offline caption"/>
          <p:cNvSpPr txBox="1"/>
          <p:nvPr/>
        </p:nvSpPr>
        <p:spPr>
          <a:xfrm>
            <a:off x="960120" y="28346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Photos, audio logs and listings save instantly on the device.</a:t>
            </a:r>
            <a:endParaRPr lang="en-US" sz="1400" dirty="0"/>
          </a:p>
        </p:txBody>
      </p:sp>
      <p:sp>
        <p:nvSpPr>
          <p:cNvPr id="8" name="flow arrow"/>
          <p:cNvSpPr/>
          <p:nvPr/>
        </p:nvSpPr>
        <p:spPr>
          <a:xfrm>
            <a:off x="3040380" y="3767328"/>
            <a:ext cx="320040" cy="320040"/>
          </a:xfrm>
          <a:prstGeom prst="downArrow">
            <a:avLst/>
          </a:prstGeom>
          <a:solidFill>
            <a:schemeClr val="accent1"/>
          </a:solidFill>
          <a:ln/>
        </p:spPr>
      </p:sp>
      <p:sp>
        <p:nvSpPr>
          <p:cNvPr id="9" name="synced panel"/>
          <p:cNvSpPr/>
          <p:nvPr/>
        </p:nvSpPr>
        <p:spPr>
          <a:xfrm>
            <a:off x="640080" y="4206240"/>
            <a:ext cx="5120640" cy="1920240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/>
        </p:spPr>
      </p:sp>
      <p:sp>
        <p:nvSpPr>
          <p:cNvPr id="10" name="synced label"/>
          <p:cNvSpPr txBox="1"/>
          <p:nvPr/>
        </p:nvSpPr>
        <p:spPr>
          <a:xfrm>
            <a:off x="96012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BACK IN NETWORK</a:t>
            </a:r>
            <a:endParaRPr lang="en-US" sz="1200" dirty="0"/>
          </a:p>
        </p:txBody>
      </p:sp>
      <p:sp>
        <p:nvSpPr>
          <p:cNvPr id="11" name="synced pill"/>
          <p:cNvSpPr/>
          <p:nvPr/>
        </p:nvSpPr>
        <p:spPr>
          <a:xfrm>
            <a:off x="960120" y="4754880"/>
            <a:ext cx="44805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synced pill text"/>
          <p:cNvSpPr txBox="1"/>
          <p:nvPr/>
        </p:nvSpPr>
        <p:spPr>
          <a:xfrm>
            <a:off x="960120" y="4754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Diagnosed &amp; Synced</a:t>
            </a:r>
            <a:endParaRPr lang="en-US" sz="1400" dirty="0"/>
          </a:p>
        </p:txBody>
      </p:sp>
      <p:sp>
        <p:nvSpPr>
          <p:cNvPr id="13" name="synced caption"/>
          <p:cNvSpPr txBox="1"/>
          <p:nvPr/>
        </p:nvSpPr>
        <p:spPr>
          <a:xfrm>
            <a:off x="960120" y="53949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site detects connectivity and syncs queued data in the background.</a:t>
            </a:r>
            <a:endParaRPr lang="en-US" sz="1400" dirty="0"/>
          </a:p>
        </p:txBody>
      </p:sp>
      <p:sp>
        <p:nvSpPr>
          <p:cNvPr id="14" name="ux label"/>
          <p:cNvSpPr txBox="1"/>
          <p:nvPr/>
        </p:nvSpPr>
        <p:spPr>
          <a:xfrm>
            <a:off x="640080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LOW-LITERACY BY DESIGN</a:t>
            </a:r>
            <a:endParaRPr lang="en-US" sz="1200" dirty="0"/>
          </a:p>
        </p:txBody>
      </p:sp>
      <p:sp>
        <p:nvSpPr>
          <p:cNvPr id="15" name="ux rule 1"/>
          <p:cNvSpPr/>
          <p:nvPr/>
        </p:nvSpPr>
        <p:spPr>
          <a:xfrm>
            <a:off x="6400800" y="2011680"/>
            <a:ext cx="5148072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16" name="ux item 1"/>
          <p:cNvSpPr txBox="1"/>
          <p:nvPr/>
        </p:nvSpPr>
        <p:spPr>
          <a:xfrm>
            <a:off x="6400800" y="2103120"/>
            <a:ext cx="5148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Voice-first Magic Add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Speak in regional dialects or Hinglish. AI turns it into a structured listing.</a:t>
            </a:r>
            <a:endParaRPr lang="en-US" sz="1400" dirty="0"/>
          </a:p>
        </p:txBody>
      </p:sp>
      <p:sp>
        <p:nvSpPr>
          <p:cNvPr id="17" name="ux rule 2"/>
          <p:cNvSpPr/>
          <p:nvPr/>
        </p:nvSpPr>
        <p:spPr>
          <a:xfrm>
            <a:off x="6400800" y="2834640"/>
            <a:ext cx="5148072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18" name="ux item 2"/>
          <p:cNvSpPr txBox="1"/>
          <p:nvPr/>
        </p:nvSpPr>
        <p:spPr>
          <a:xfrm>
            <a:off x="6400800" y="2926080"/>
            <a:ext cx="5148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Zero passwords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Sign in with a phone number and OTP.</a:t>
            </a:r>
            <a:endParaRPr lang="en-US" sz="1400" dirty="0"/>
          </a:p>
        </p:txBody>
      </p:sp>
      <p:sp>
        <p:nvSpPr>
          <p:cNvPr id="19" name="ux rule 3"/>
          <p:cNvSpPr/>
          <p:nvPr/>
        </p:nvSpPr>
        <p:spPr>
          <a:xfrm>
            <a:off x="6400800" y="3657600"/>
            <a:ext cx="5148072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20" name="ux item 3"/>
          <p:cNvSpPr txBox="1"/>
          <p:nvPr/>
        </p:nvSpPr>
        <p:spPr>
          <a:xfrm>
            <a:off x="6400800" y="3749040"/>
            <a:ext cx="5148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Icons over text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Minimal typing and visual dropdowns.</a:t>
            </a:r>
            <a:endParaRPr lang="en-US" sz="1400" dirty="0"/>
          </a:p>
        </p:txBody>
      </p:sp>
      <p:sp>
        <p:nvSpPr>
          <p:cNvPr id="21" name="ux rule 4"/>
          <p:cNvSpPr/>
          <p:nvPr/>
        </p:nvSpPr>
        <p:spPr>
          <a:xfrm>
            <a:off x="6400800" y="4480560"/>
            <a:ext cx="5148072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22" name="ux item 4"/>
          <p:cNvSpPr txBox="1"/>
          <p:nvPr/>
        </p:nvSpPr>
        <p:spPr>
          <a:xfrm>
            <a:off x="6400800" y="4572000"/>
            <a:ext cx="5148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Big numbers, clear trends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Large prices with ▲ / ▼ arrows.</a:t>
            </a:r>
            <a:endParaRPr lang="en-US" sz="1400" dirty="0"/>
          </a:p>
        </p:txBody>
      </p:sp>
      <p:sp>
        <p:nvSpPr>
          <p:cNvPr id="23" name="ux rule 5"/>
          <p:cNvSpPr/>
          <p:nvPr/>
        </p:nvSpPr>
        <p:spPr>
          <a:xfrm>
            <a:off x="6400800" y="5303520"/>
            <a:ext cx="5148072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24" name="ux item 5"/>
          <p:cNvSpPr txBox="1"/>
          <p:nvPr/>
        </p:nvSpPr>
        <p:spPr>
          <a:xfrm>
            <a:off x="6400800" y="5394960"/>
            <a:ext cx="5148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Hear it, switch 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Text-to-speech and a Hindi / English toggle.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Records you can verify</a:t>
            </a:r>
            <a:endParaRPr lang="en-US" sz="3400" dirty="0"/>
          </a:p>
        </p:txBody>
      </p:sp>
      <p:sp>
        <p:nvSpPr>
          <p:cNvPr id="3" name="node 1"/>
          <p:cNvSpPr/>
          <p:nvPr/>
        </p:nvSpPr>
        <p:spPr>
          <a:xfrm>
            <a:off x="640080" y="1691640"/>
            <a:ext cx="3154680" cy="1417320"/>
          </a:xfrm>
          <a:prstGeom prst="roundRect">
            <a:avLst>
              <a:gd name="adj" fmla="val 6452"/>
            </a:avLst>
          </a:prstGeom>
          <a:solidFill>
            <a:schemeClr val="tx1"/>
          </a:solidFill>
          <a:ln/>
        </p:spPr>
      </p:sp>
      <p:sp>
        <p:nvSpPr>
          <p:cNvPr id="4" name="node label 1"/>
          <p:cNvSpPr txBox="1"/>
          <p:nvPr/>
        </p:nvSpPr>
        <p:spPr>
          <a:xfrm>
            <a:off x="91440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</a:rPr>
              <a:t>STEP 1</a:t>
            </a:r>
            <a:endParaRPr lang="en-US" sz="1200" dirty="0"/>
          </a:p>
        </p:txBody>
      </p:sp>
      <p:sp>
        <p:nvSpPr>
          <p:cNvPr id="5" name="node title 1"/>
          <p:cNvSpPr txBox="1"/>
          <p:nvPr/>
        </p:nvSpPr>
        <p:spPr>
          <a:xfrm>
            <a:off x="914400" y="22402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Saved on the device</a:t>
            </a:r>
            <a:endParaRPr lang="en-US" sz="2400" dirty="0"/>
          </a:p>
        </p:txBody>
      </p:sp>
      <p:sp>
        <p:nvSpPr>
          <p:cNvPr id="6" name="node desc 1"/>
          <p:cNvSpPr txBox="1"/>
          <p:nvPr/>
        </p:nvSpPr>
        <p:spPr>
          <a:xfrm>
            <a:off x="640080" y="338328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Works with no signal. Offline-first caching (Service Worker + IndexedDB) keeps everything on the device until it syncs.</a:t>
            </a:r>
            <a:endParaRPr lang="en-US" sz="1600" dirty="0"/>
          </a:p>
        </p:txBody>
      </p:sp>
      <p:sp>
        <p:nvSpPr>
          <p:cNvPr id="7" name="arrow 1"/>
          <p:cNvSpPr/>
          <p:nvPr/>
        </p:nvSpPr>
        <p:spPr>
          <a:xfrm>
            <a:off x="3886200" y="2240280"/>
            <a:ext cx="457200" cy="32004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8" name="node 2"/>
          <p:cNvSpPr/>
          <p:nvPr/>
        </p:nvSpPr>
        <p:spPr>
          <a:xfrm>
            <a:off x="4526280" y="1691640"/>
            <a:ext cx="3154680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/>
        </p:spPr>
      </p:sp>
      <p:sp>
        <p:nvSpPr>
          <p:cNvPr id="9" name="node label 2"/>
          <p:cNvSpPr txBox="1"/>
          <p:nvPr/>
        </p:nvSpPr>
        <p:spPr>
          <a:xfrm>
            <a:off x="480060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</a:rPr>
              <a:t>STEP 2</a:t>
            </a:r>
            <a:endParaRPr lang="en-US" sz="1200" dirty="0"/>
          </a:p>
        </p:txBody>
      </p:sp>
      <p:sp>
        <p:nvSpPr>
          <p:cNvPr id="10" name="node title 2"/>
          <p:cNvSpPr txBox="1"/>
          <p:nvPr/>
        </p:nvSpPr>
        <p:spPr>
          <a:xfrm>
            <a:off x="4800600" y="22402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Signed at creation</a:t>
            </a:r>
            <a:endParaRPr lang="en-US" sz="2400" dirty="0"/>
          </a:p>
        </p:txBody>
      </p:sp>
      <p:sp>
        <p:nvSpPr>
          <p:cNvPr id="11" name="node desc 2"/>
          <p:cNvSpPr txBox="1"/>
          <p:nvPr/>
        </p:nvSpPr>
        <p:spPr>
          <a:xfrm>
            <a:off x="4526280" y="338328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action and claim is signed in the browser (Web Crypto API) and verified by the Flask server, so tampering is detectable.</a:t>
            </a:r>
            <a:endParaRPr lang="en-US" sz="1600" dirty="0"/>
          </a:p>
        </p:txBody>
      </p:sp>
      <p:sp>
        <p:nvSpPr>
          <p:cNvPr id="12" name="arrow 2"/>
          <p:cNvSpPr/>
          <p:nvPr/>
        </p:nvSpPr>
        <p:spPr>
          <a:xfrm>
            <a:off x="7772400" y="2240280"/>
            <a:ext cx="457200" cy="32004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3" name="node 3"/>
          <p:cNvSpPr/>
          <p:nvPr/>
        </p:nvSpPr>
        <p:spPr>
          <a:xfrm>
            <a:off x="8412480" y="1691640"/>
            <a:ext cx="3154680" cy="1417320"/>
          </a:xfrm>
          <a:prstGeom prst="roundRect">
            <a:avLst>
              <a:gd name="adj" fmla="val 6452"/>
            </a:avLst>
          </a:prstGeom>
          <a:solidFill>
            <a:schemeClr val="accent1"/>
          </a:solidFill>
          <a:ln/>
        </p:spPr>
      </p:sp>
      <p:sp>
        <p:nvSpPr>
          <p:cNvPr id="14" name="node label 3"/>
          <p:cNvSpPr txBox="1"/>
          <p:nvPr/>
        </p:nvSpPr>
        <p:spPr>
          <a:xfrm>
            <a:off x="868680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STEP 3</a:t>
            </a:r>
            <a:endParaRPr lang="en-US" sz="1200" dirty="0"/>
          </a:p>
        </p:txBody>
      </p:sp>
      <p:sp>
        <p:nvSpPr>
          <p:cNvPr id="15" name="node title 3"/>
          <p:cNvSpPr txBox="1"/>
          <p:nvPr/>
        </p:nvSpPr>
        <p:spPr>
          <a:xfrm>
            <a:off x="8686800" y="22402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on sync</a:t>
            </a:r>
            <a:endParaRPr lang="en-US" sz="2400" dirty="0"/>
          </a:p>
        </p:txBody>
      </p:sp>
      <p:sp>
        <p:nvSpPr>
          <p:cNvPr id="16" name="node desc 3"/>
          <p:cNvSpPr txBox="1"/>
          <p:nvPr/>
        </p:nvSpPr>
        <p:spPr>
          <a:xfrm>
            <a:off x="8412480" y="338328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When the network returns, the Flask server checks each signature and the app shows a Verified badge.</a:t>
            </a:r>
            <a:endParaRPr lang="en-US" sz="1600" dirty="0"/>
          </a:p>
        </p:txBody>
      </p:sp>
      <p:sp>
        <p:nvSpPr>
          <p:cNvPr id="17" name="why band"/>
          <p:cNvSpPr/>
          <p:nvPr/>
        </p:nvSpPr>
        <p:spPr>
          <a:xfrm>
            <a:off x="640080" y="4754880"/>
            <a:ext cx="10908792" cy="1417320"/>
          </a:xfrm>
          <a:prstGeom prst="roundRect">
            <a:avLst>
              <a:gd name="adj" fmla="val 6452"/>
            </a:avLst>
          </a:prstGeom>
          <a:solidFill>
            <a:schemeClr val="tx1"/>
          </a:solidFill>
          <a:ln/>
        </p:spPr>
      </p:sp>
      <p:sp>
        <p:nvSpPr>
          <p:cNvPr id="18" name="why label"/>
          <p:cNvSpPr txBox="1"/>
          <p:nvPr/>
        </p:nvSpPr>
        <p:spPr>
          <a:xfrm>
            <a:off x="960120" y="4919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WHY IT MATTERS</a:t>
            </a:r>
            <a:endParaRPr lang="en-US" sz="1200" dirty="0"/>
          </a:p>
        </p:txBody>
      </p:sp>
      <p:sp>
        <p:nvSpPr>
          <p:cNvPr id="19" name="why text"/>
          <p:cNvSpPr txBox="1"/>
          <p:nvPr/>
        </p:nvSpPr>
        <p:spPr>
          <a:xfrm>
            <a:off x="960120" y="52303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Signed records make tampering detectable, which keeps trading and crop history fair.</a:t>
            </a:r>
            <a:endParaRPr lang="en-US" sz="1600" dirty="0"/>
          </a:p>
        </p:txBody>
      </p:sp>
      <p:sp>
        <p:nvSpPr>
          <p:cNvPr id="20" name="scope text"/>
          <p:cNvSpPr txBox="1"/>
          <p:nvPr/>
        </p:nvSpPr>
        <p:spPr>
          <a:xfrm>
            <a:off x="960120" y="5669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Prototype scope: the live demo runs offline-first on React + Flask + SQLite, with a mock OTP login.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 stack</a:t>
            </a:r>
            <a:endParaRPr lang="en-US" sz="3400" dirty="0"/>
          </a:p>
        </p:txBody>
      </p:sp>
      <p:sp>
        <p:nvSpPr>
          <p:cNvPr id="3" name="stack rule 0"/>
          <p:cNvSpPr/>
          <p:nvPr/>
        </p:nvSpPr>
        <p:spPr>
          <a:xfrm>
            <a:off x="640080" y="1600200"/>
            <a:ext cx="1090879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4" name="stack key 1"/>
          <p:cNvSpPr txBox="1"/>
          <p:nvPr/>
        </p:nvSpPr>
        <p:spPr>
          <a:xfrm>
            <a:off x="640080" y="163677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2000" dirty="0"/>
          </a:p>
        </p:txBody>
      </p:sp>
      <p:sp>
        <p:nvSpPr>
          <p:cNvPr id="5" name="chip React"/>
          <p:cNvSpPr/>
          <p:nvPr/>
        </p:nvSpPr>
        <p:spPr>
          <a:xfrm>
            <a:off x="3108960" y="1700784"/>
            <a:ext cx="1371600" cy="384048"/>
          </a:xfrm>
          <a:prstGeom prst="roundRect">
            <a:avLst>
              <a:gd name="adj" fmla="val 59524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chip text React"/>
          <p:cNvSpPr txBox="1"/>
          <p:nvPr/>
        </p:nvSpPr>
        <p:spPr>
          <a:xfrm>
            <a:off x="3108960" y="17007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React</a:t>
            </a:r>
            <a:endParaRPr lang="en-US" sz="1600" dirty="0"/>
          </a:p>
        </p:txBody>
      </p:sp>
      <p:sp>
        <p:nvSpPr>
          <p:cNvPr id="7" name="stack rule 1"/>
          <p:cNvSpPr/>
          <p:nvPr/>
        </p:nvSpPr>
        <p:spPr>
          <a:xfrm>
            <a:off x="640080" y="2185416"/>
            <a:ext cx="1090879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8" name="stack key 2"/>
          <p:cNvSpPr txBox="1"/>
          <p:nvPr/>
        </p:nvSpPr>
        <p:spPr>
          <a:xfrm>
            <a:off x="640080" y="222199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2000" dirty="0"/>
          </a:p>
        </p:txBody>
      </p:sp>
      <p:sp>
        <p:nvSpPr>
          <p:cNvPr id="9" name="chip Flask"/>
          <p:cNvSpPr/>
          <p:nvPr/>
        </p:nvSpPr>
        <p:spPr>
          <a:xfrm>
            <a:off x="3108960" y="2286000"/>
            <a:ext cx="1371600" cy="384048"/>
          </a:xfrm>
          <a:prstGeom prst="roundRect">
            <a:avLst>
              <a:gd name="adj" fmla="val 59524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" name="chip text Flask"/>
          <p:cNvSpPr txBox="1"/>
          <p:nvPr/>
        </p:nvSpPr>
        <p:spPr>
          <a:xfrm>
            <a:off x="310896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Flask</a:t>
            </a:r>
            <a:endParaRPr lang="en-US" sz="1600" dirty="0"/>
          </a:p>
        </p:txBody>
      </p:sp>
      <p:sp>
        <p:nvSpPr>
          <p:cNvPr id="11" name="stack rule 2"/>
          <p:cNvSpPr/>
          <p:nvPr/>
        </p:nvSpPr>
        <p:spPr>
          <a:xfrm>
            <a:off x="640080" y="2770632"/>
            <a:ext cx="1090879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2" name="stack key 3"/>
          <p:cNvSpPr txBox="1"/>
          <p:nvPr/>
        </p:nvSpPr>
        <p:spPr>
          <a:xfrm>
            <a:off x="640080" y="280720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2000" dirty="0"/>
          </a:p>
        </p:txBody>
      </p:sp>
      <p:sp>
        <p:nvSpPr>
          <p:cNvPr id="13" name="chip SQLite"/>
          <p:cNvSpPr/>
          <p:nvPr/>
        </p:nvSpPr>
        <p:spPr>
          <a:xfrm>
            <a:off x="3108960" y="2871216"/>
            <a:ext cx="1517904" cy="384048"/>
          </a:xfrm>
          <a:prstGeom prst="roundRect">
            <a:avLst>
              <a:gd name="adj" fmla="val 59524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chip text SQLite"/>
          <p:cNvSpPr txBox="1"/>
          <p:nvPr/>
        </p:nvSpPr>
        <p:spPr>
          <a:xfrm>
            <a:off x="3108960" y="2871216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SQLite</a:t>
            </a:r>
            <a:endParaRPr lang="en-US" sz="1600" dirty="0"/>
          </a:p>
        </p:txBody>
      </p:sp>
      <p:sp>
        <p:nvSpPr>
          <p:cNvPr id="15" name="stack rule 3"/>
          <p:cNvSpPr/>
          <p:nvPr/>
        </p:nvSpPr>
        <p:spPr>
          <a:xfrm>
            <a:off x="640080" y="3355848"/>
            <a:ext cx="1090879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6" name="stack key 4"/>
          <p:cNvSpPr txBox="1"/>
          <p:nvPr/>
        </p:nvSpPr>
        <p:spPr>
          <a:xfrm>
            <a:off x="640080" y="339242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</a:t>
            </a:r>
            <a:endParaRPr lang="en-US" sz="2000" dirty="0"/>
          </a:p>
        </p:txBody>
      </p:sp>
      <p:sp>
        <p:nvSpPr>
          <p:cNvPr id="17" name="chip Web Speech API"/>
          <p:cNvSpPr/>
          <p:nvPr/>
        </p:nvSpPr>
        <p:spPr>
          <a:xfrm>
            <a:off x="3108960" y="3456432"/>
            <a:ext cx="2688336" cy="384048"/>
          </a:xfrm>
          <a:prstGeom prst="roundRect">
            <a:avLst>
              <a:gd name="adj" fmla="val 59524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8" name="chip text Web Speech API"/>
          <p:cNvSpPr txBox="1"/>
          <p:nvPr/>
        </p:nvSpPr>
        <p:spPr>
          <a:xfrm>
            <a:off x="3108960" y="3456432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Web Speech API</a:t>
            </a:r>
            <a:endParaRPr lang="en-US" sz="1600" dirty="0"/>
          </a:p>
        </p:txBody>
      </p:sp>
      <p:sp>
        <p:nvSpPr>
          <p:cNvPr id="19" name="stack rule 4"/>
          <p:cNvSpPr/>
          <p:nvPr/>
        </p:nvSpPr>
        <p:spPr>
          <a:xfrm>
            <a:off x="640080" y="3941064"/>
            <a:ext cx="1090879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0" name="stack key 5"/>
          <p:cNvSpPr txBox="1"/>
          <p:nvPr/>
        </p:nvSpPr>
        <p:spPr>
          <a:xfrm>
            <a:off x="640080" y="397764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vision</a:t>
            </a:r>
            <a:endParaRPr lang="en-US" sz="2000" dirty="0"/>
          </a:p>
        </p:txBody>
      </p:sp>
      <p:sp>
        <p:nvSpPr>
          <p:cNvPr id="21" name="chip Gemini Vision"/>
          <p:cNvSpPr/>
          <p:nvPr/>
        </p:nvSpPr>
        <p:spPr>
          <a:xfrm>
            <a:off x="3108960" y="4041648"/>
            <a:ext cx="2542032" cy="384048"/>
          </a:xfrm>
          <a:prstGeom prst="roundRect">
            <a:avLst>
              <a:gd name="adj" fmla="val 59524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2" name="chip text Gemini Vision"/>
          <p:cNvSpPr txBox="1"/>
          <p:nvPr/>
        </p:nvSpPr>
        <p:spPr>
          <a:xfrm>
            <a:off x="3108960" y="404164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Gemini Vision</a:t>
            </a:r>
            <a:endParaRPr lang="en-US" sz="1600" dirty="0"/>
          </a:p>
        </p:txBody>
      </p:sp>
      <p:sp>
        <p:nvSpPr>
          <p:cNvPr id="23" name="stack rule 5"/>
          <p:cNvSpPr/>
          <p:nvPr/>
        </p:nvSpPr>
        <p:spPr>
          <a:xfrm>
            <a:off x="640080" y="4526280"/>
            <a:ext cx="1090879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4" name="stack key 6"/>
          <p:cNvSpPr txBox="1"/>
          <p:nvPr/>
        </p:nvSpPr>
        <p:spPr>
          <a:xfrm>
            <a:off x="640080" y="456285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</a:t>
            </a:r>
            <a:endParaRPr lang="en-US" sz="2000" dirty="0"/>
          </a:p>
        </p:txBody>
      </p:sp>
      <p:sp>
        <p:nvSpPr>
          <p:cNvPr id="25" name="chip Service Worker"/>
          <p:cNvSpPr/>
          <p:nvPr/>
        </p:nvSpPr>
        <p:spPr>
          <a:xfrm>
            <a:off x="3108960" y="4626864"/>
            <a:ext cx="2688336" cy="384048"/>
          </a:xfrm>
          <a:prstGeom prst="roundRect">
            <a:avLst>
              <a:gd name="adj" fmla="val 59524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6" name="chip text Service Worker"/>
          <p:cNvSpPr txBox="1"/>
          <p:nvPr/>
        </p:nvSpPr>
        <p:spPr>
          <a:xfrm>
            <a:off x="3108960" y="462686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Service Worker</a:t>
            </a:r>
            <a:endParaRPr lang="en-US" sz="1600" dirty="0"/>
          </a:p>
        </p:txBody>
      </p:sp>
      <p:sp>
        <p:nvSpPr>
          <p:cNvPr id="27" name="chip IndexedDB"/>
          <p:cNvSpPr/>
          <p:nvPr/>
        </p:nvSpPr>
        <p:spPr>
          <a:xfrm>
            <a:off x="5980176" y="4626864"/>
            <a:ext cx="1956816" cy="384048"/>
          </a:xfrm>
          <a:prstGeom prst="roundRect">
            <a:avLst>
              <a:gd name="adj" fmla="val 59524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8" name="chip text IndexedDB"/>
          <p:cNvSpPr txBox="1"/>
          <p:nvPr/>
        </p:nvSpPr>
        <p:spPr>
          <a:xfrm>
            <a:off x="5980176" y="462686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IndexedDB</a:t>
            </a:r>
            <a:endParaRPr lang="en-US" sz="1600" dirty="0"/>
          </a:p>
        </p:txBody>
      </p:sp>
      <p:sp>
        <p:nvSpPr>
          <p:cNvPr id="29" name="chip localStorage"/>
          <p:cNvSpPr/>
          <p:nvPr/>
        </p:nvSpPr>
        <p:spPr>
          <a:xfrm>
            <a:off x="8119872" y="4626864"/>
            <a:ext cx="2395728" cy="384048"/>
          </a:xfrm>
          <a:prstGeom prst="roundRect">
            <a:avLst>
              <a:gd name="adj" fmla="val 59524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0" name="chip text localStorage"/>
          <p:cNvSpPr txBox="1"/>
          <p:nvPr/>
        </p:nvSpPr>
        <p:spPr>
          <a:xfrm>
            <a:off x="8119872" y="462686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localStorage</a:t>
            </a:r>
            <a:endParaRPr lang="en-US" sz="1600" dirty="0"/>
          </a:p>
        </p:txBody>
      </p:sp>
      <p:sp>
        <p:nvSpPr>
          <p:cNvPr id="31" name="stack rule 6"/>
          <p:cNvSpPr/>
          <p:nvPr/>
        </p:nvSpPr>
        <p:spPr>
          <a:xfrm>
            <a:off x="640080" y="5111496"/>
            <a:ext cx="1090879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32" name="stack key 7"/>
          <p:cNvSpPr txBox="1"/>
          <p:nvPr/>
        </p:nvSpPr>
        <p:spPr>
          <a:xfrm>
            <a:off x="640080" y="514807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2000" dirty="0"/>
          </a:p>
        </p:txBody>
      </p:sp>
      <p:sp>
        <p:nvSpPr>
          <p:cNvPr id="33" name="chip data.gov.in"/>
          <p:cNvSpPr/>
          <p:nvPr/>
        </p:nvSpPr>
        <p:spPr>
          <a:xfrm>
            <a:off x="3108960" y="5212080"/>
            <a:ext cx="2249424" cy="384048"/>
          </a:xfrm>
          <a:prstGeom prst="roundRect">
            <a:avLst>
              <a:gd name="adj" fmla="val 59524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4" name="chip text data.gov.in"/>
          <p:cNvSpPr txBox="1"/>
          <p:nvPr/>
        </p:nvSpPr>
        <p:spPr>
          <a:xfrm>
            <a:off x="3108960" y="521208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data.gov.in</a:t>
            </a:r>
            <a:endParaRPr lang="en-US" sz="1600" dirty="0"/>
          </a:p>
        </p:txBody>
      </p:sp>
      <p:sp>
        <p:nvSpPr>
          <p:cNvPr id="35" name="stack rule 7"/>
          <p:cNvSpPr/>
          <p:nvPr/>
        </p:nvSpPr>
        <p:spPr>
          <a:xfrm>
            <a:off x="640080" y="5696712"/>
            <a:ext cx="1090879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36" name="stack key 8"/>
          <p:cNvSpPr txBox="1"/>
          <p:nvPr/>
        </p:nvSpPr>
        <p:spPr>
          <a:xfrm>
            <a:off x="640080" y="573328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2000" dirty="0"/>
          </a:p>
        </p:txBody>
      </p:sp>
      <p:sp>
        <p:nvSpPr>
          <p:cNvPr id="37" name="chip Web Crypto API"/>
          <p:cNvSpPr/>
          <p:nvPr/>
        </p:nvSpPr>
        <p:spPr>
          <a:xfrm>
            <a:off x="3108960" y="5797296"/>
            <a:ext cx="2688336" cy="384048"/>
          </a:xfrm>
          <a:prstGeom prst="roundRect">
            <a:avLst>
              <a:gd name="adj" fmla="val 59524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8" name="chip text Web Crypto API"/>
          <p:cNvSpPr txBox="1"/>
          <p:nvPr/>
        </p:nvSpPr>
        <p:spPr>
          <a:xfrm>
            <a:off x="3108960" y="5797296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Web Crypto API</a:t>
            </a:r>
            <a:endParaRPr lang="en-US" sz="1600" dirty="0"/>
          </a:p>
        </p:txBody>
      </p:sp>
      <p:sp>
        <p:nvSpPr>
          <p:cNvPr id="39" name="stack rule 8"/>
          <p:cNvSpPr/>
          <p:nvPr/>
        </p:nvSpPr>
        <p:spPr>
          <a:xfrm>
            <a:off x="640080" y="6281928"/>
            <a:ext cx="1090879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sanLink">
  <a:themeElements>
    <a:clrScheme name="KisanLink">
      <a:dk1>
        <a:srgbClr val="272C1A"/>
      </a:dk1>
      <a:lt1>
        <a:srgbClr val="FFFEEF"/>
      </a:lt1>
      <a:dk2>
        <a:srgbClr val="446158"/>
      </a:dk2>
      <a:lt2>
        <a:srgbClr val="DCDDC4"/>
      </a:lt2>
      <a:accent1>
        <a:srgbClr val="9FD700"/>
      </a:accent1>
      <a:accent2>
        <a:srgbClr val="F2B705"/>
      </a:accent2>
      <a:accent3>
        <a:srgbClr val="D64545"/>
      </a:accent3>
      <a:accent4>
        <a:srgbClr val="8FA89C"/>
      </a:accent4>
      <a:accent5>
        <a:srgbClr val="C9E27A"/>
      </a:accent5>
      <a:accent6>
        <a:srgbClr val="1B1F12"/>
      </a:accent6>
      <a:hlink>
        <a:srgbClr val="446158"/>
      </a:hlink>
      <a:folHlink>
        <a:srgbClr val="8FA89C"/>
      </a:folHlink>
    </a:clrScheme>
    <a:fontScheme name="KisanLink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KisanLink</dc:title>
  <dc:subject>PptxGenJS Presentation</dc:subject>
  <dc:creator>KisanLink</dc:creator>
  <cp:lastModifiedBy>KisanLink</cp:lastModifiedBy>
  <cp:revision>1</cp:revision>
  <dcterms:created xsi:type="dcterms:W3CDTF">2026-10-17T14:06:23Z</dcterms:created>
  <dcterms:modified xsi:type="dcterms:W3CDTF">2026-10-17T14:06:23Z</dcterms:modified>
</cp:coreProperties>
</file>